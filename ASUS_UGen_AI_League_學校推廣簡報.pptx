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6" d="100"/>
          <a:sy n="86" d="100"/>
        </p:scale>
        <p:origin x="104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8487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58361711-2329-AA61-3E8E-81D1455FFAA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10636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ASUS_Confidential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8C87FED-737D-957B-9673-361E60C4F26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42100"/>
            <a:ext cx="106362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TW" altLang="en-US" sz="10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ASUS_Confidential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943600" cy="5943600"/>
          </a:xfrm>
          <a:prstGeom prst="ellipse">
            <a:avLst/>
          </a:prstGeom>
          <a:solidFill>
            <a:srgbClr val="1B3B6F">
              <a:alpha val="40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Shape 1"/>
          <p:cNvSpPr/>
          <p:nvPr/>
        </p:nvSpPr>
        <p:spPr>
          <a:xfrm>
            <a:off x="10607040" y="3474720"/>
            <a:ext cx="3840480" cy="3840480"/>
          </a:xfrm>
          <a:prstGeom prst="ellipse">
            <a:avLst/>
          </a:prstGeom>
          <a:solidFill>
            <a:srgbClr val="2FD8FF">
              <a:alpha val="18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9601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2F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  ×  Intel  ×  Hailo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41732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ASUS UGen AI League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4884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F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創新黑客松</a:t>
            </a:r>
            <a:endParaRPr lang="en-US" sz="54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31546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F3F6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智算為核．創意決勝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703320"/>
            <a:ext cx="7589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手上已經有一個想做成 AI 原型的點子？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C7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缺的只是晶片、資源與舞台——ASUS 都準備好了。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04672" y="4709160"/>
            <a:ext cx="3246120" cy="1051560"/>
          </a:xfrm>
          <a:prstGeom prst="roundRect">
            <a:avLst>
              <a:gd name="adj" fmla="val 8696"/>
            </a:avLst>
          </a:prstGeom>
          <a:solidFill>
            <a:srgbClr val="12213D"/>
          </a:solidFill>
          <a:ln w="12700">
            <a:solidFill>
              <a:srgbClr val="1B3B6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1005840" y="48280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2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總獎金池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51206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B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USD 20,000+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233672" y="4709160"/>
            <a:ext cx="3246120" cy="1051560"/>
          </a:xfrm>
          <a:prstGeom prst="roundRect">
            <a:avLst>
              <a:gd name="adj" fmla="val 8696"/>
            </a:avLst>
          </a:prstGeom>
          <a:solidFill>
            <a:srgbClr val="12213D"/>
          </a:solidFill>
          <a:ln w="12700">
            <a:solidFill>
              <a:srgbClr val="1B3B6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4434840" y="48280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2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徵件截止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434840" y="51206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B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 / 10 / 14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662672" y="4709160"/>
            <a:ext cx="3246120" cy="1051560"/>
          </a:xfrm>
          <a:prstGeom prst="roundRect">
            <a:avLst>
              <a:gd name="adj" fmla="val 8696"/>
            </a:avLst>
          </a:prstGeom>
          <a:solidFill>
            <a:srgbClr val="12213D"/>
          </a:solidFill>
          <a:ln w="12700">
            <a:solidFill>
              <a:srgbClr val="1B3B6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7863840" y="48280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2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報名方式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5120640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B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個人或 1–5 人組隊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1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為什麼推薦這場黑客松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6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讓學生的 AI 點子，走完最後一哩路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120640" cy="4480560"/>
          </a:xfrm>
          <a:prstGeom prst="roundRect">
            <a:avLst>
              <a:gd name="adj" fmla="val 1633"/>
            </a:avLst>
          </a:prstGeom>
          <a:solidFill>
            <a:srgbClr val="0A112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810512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終端算力愈來愈強，模型愈來愈輕巧，</a:t>
            </a:r>
            <a:endParaRPr lang="en-US" sz="16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落地的門檻正在快速降低。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606040"/>
            <a:ext cx="4480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7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但從一個點子，到一個真正跑得動、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C7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能被驗證的原型，中間仍有不小的距離。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68680" y="3611880"/>
            <a:ext cx="4480560" cy="0"/>
          </a:xfrm>
          <a:prstGeom prst="line">
            <a:avLst/>
          </a:prstGeom>
          <a:noFill/>
          <a:ln w="12700">
            <a:solidFill>
              <a:srgbClr val="1B3B6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 txBox="1"/>
          <p:nvPr/>
        </p:nvSpPr>
        <p:spPr>
          <a:xfrm>
            <a:off x="868680" y="384048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F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 攜手 Intel、Hailo，把晶片、算力資源</a:t>
            </a:r>
            <a:endParaRPr lang="en-US" sz="14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F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與舞台都準備好了，讓人腦與 AI 晶片緊密合作。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53949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B2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這是一個把課堂知識，變成真實作品的機會。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89320" y="1691640"/>
            <a:ext cx="566928" cy="566928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598932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800" dirty="0">
                <a:solidFill>
                  <a:schemeClr val="bg1"/>
                </a:solidFill>
              </a:rPr>
              <a:t>算</a:t>
            </a:r>
            <a:endParaRPr lang="en-US" sz="18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6720840" y="167335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0A11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晶片</a:t>
            </a:r>
            <a:r>
              <a:rPr lang="en-US" sz="1600" b="1" dirty="0">
                <a:solidFill>
                  <a:srgbClr val="0A11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/</a:t>
            </a:r>
            <a:r>
              <a:rPr lang="zh-TW" altLang="en-US" sz="1600" b="1" dirty="0">
                <a:solidFill>
                  <a:srgbClr val="0A11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算力</a:t>
            </a:r>
            <a:r>
              <a:rPr lang="en-US" sz="1600" b="1" dirty="0" err="1">
                <a:solidFill>
                  <a:srgbClr val="0A11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直接提供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720840" y="201168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6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 UGen300 / Intel Arc Pro B70，免自行採購硬體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89320" y="2743200"/>
            <a:ext cx="566928" cy="566928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5989320" y="2743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27249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1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資源全力支援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306324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6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官方技術說明會、實測環境與遠端協助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89320" y="3794760"/>
            <a:ext cx="566928" cy="566928"/>
          </a:xfrm>
          <a:prstGeom prst="ellipse">
            <a:avLst/>
          </a:prstGeom>
          <a:solidFill>
            <a:srgbClr val="1B3B6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 txBox="1"/>
          <p:nvPr/>
        </p:nvSpPr>
        <p:spPr>
          <a:xfrm>
            <a:off x="5989320" y="37947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舞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37764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A11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國際級舞台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41148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B76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決賽於 ASUS 總部舉行，作品被業界看見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989320" y="4892040"/>
            <a:ext cx="5394960" cy="1051560"/>
          </a:xfrm>
          <a:prstGeom prst="roundRect">
            <a:avLst>
              <a:gd name="adj" fmla="val 6957"/>
            </a:avLst>
          </a:prstGeom>
          <a:solidFill>
            <a:srgbClr val="12213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 txBox="1"/>
          <p:nvPr/>
        </p:nvSpPr>
        <p:spPr>
          <a:xfrm>
            <a:off x="6263640" y="498348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B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USD 20,000+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263640" y="550468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7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總獎金池，等你來晉級決賽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A11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競賽主題與運算賽道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9611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6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三大主題任選其一，再依需求擇一運算平台開發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0A112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777240" y="1536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Creator AI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創作體驗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194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輔助創作、內容生成與互動體驗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89120" y="14173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0A112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4617720" y="1536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Workplace AI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工作場域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617720" y="2194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提升效率、自動化與決策輔助的應用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0" y="141732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0A112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8458200" y="1536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F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Everyday AI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458200" y="1874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B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日常生活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458200" y="2194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7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貼近生活情境的實用 AI 應用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A11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兩大賽道．擇一運算平台開發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5532120" cy="2606040"/>
          </a:xfrm>
          <a:prstGeom prst="roundRect">
            <a:avLst>
              <a:gd name="adj" fmla="val 2807"/>
            </a:avLst>
          </a:prstGeom>
          <a:solidFill>
            <a:srgbClr val="16294B"/>
          </a:solidFill>
          <a:ln w="12700">
            <a:solidFill>
              <a:srgbClr val="1B3B6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822960" y="3767328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2FD8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 txBox="1"/>
          <p:nvPr/>
        </p:nvSpPr>
        <p:spPr>
          <a:xfrm>
            <a:off x="822960" y="37673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1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輕量運算組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822960" y="4251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Battlefield Lightning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4663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 UGen300 AI Accelerator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0749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適合本地端 AI 推論、影像辨識、情境感知等 Edge AI 應用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355080" y="3520440"/>
            <a:ext cx="5532120" cy="2606040"/>
          </a:xfrm>
          <a:prstGeom prst="roundRect">
            <a:avLst>
              <a:gd name="adj" fmla="val 2807"/>
            </a:avLst>
          </a:prstGeom>
          <a:solidFill>
            <a:srgbClr val="16294B"/>
          </a:solidFill>
          <a:ln w="12700">
            <a:solidFill>
              <a:srgbClr val="1B3B6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6629400" y="3767328"/>
            <a:ext cx="1737360" cy="384048"/>
          </a:xfrm>
          <a:prstGeom prst="roundRect">
            <a:avLst>
              <a:gd name="adj" fmla="val 50000"/>
            </a:avLst>
          </a:prstGeom>
          <a:solidFill>
            <a:srgbClr val="FFB02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 txBox="1"/>
          <p:nvPr/>
        </p:nvSpPr>
        <p:spPr>
          <a:xfrm>
            <a:off x="6629400" y="3767328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11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高效開發組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629400" y="4251960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Battlefield Thunderstorm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629400" y="4663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 UGen Intel Arc Pro B70 32GB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629400" y="507492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7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適合高算力、大型代理 AI 模型工作負載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獎金與獎勵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498080" y="41148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12213D"/>
          </a:solidFill>
          <a:ln w="12700">
            <a:solidFill>
              <a:srgbClr val="2FD8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 txBox="1"/>
          <p:nvPr/>
        </p:nvSpPr>
        <p:spPr>
          <a:xfrm>
            <a:off x="7498080" y="411480"/>
            <a:ext cx="4114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B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總獎金池超過 USD 20,000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5532120" cy="3246120"/>
          </a:xfrm>
          <a:prstGeom prst="roundRect">
            <a:avLst>
              <a:gd name="adj" fmla="val 2254"/>
            </a:avLst>
          </a:prstGeom>
          <a:solidFill>
            <a:srgbClr val="12213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868680" y="1554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輕量運算組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18470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Battlefield Lightning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3957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冠軍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26974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F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USD 4,500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868680" y="3429000"/>
            <a:ext cx="4892040" cy="0"/>
          </a:xfrm>
          <a:prstGeom prst="line">
            <a:avLst/>
          </a:prstGeom>
          <a:noFill/>
          <a:ln w="12700">
            <a:solidFill>
              <a:srgbClr val="1B3B6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868680" y="35661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最佳創新／硬體整合／商業潛力獎 各 USD 1,500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355080" y="1325880"/>
            <a:ext cx="5532120" cy="3246120"/>
          </a:xfrm>
          <a:prstGeom prst="roundRect">
            <a:avLst>
              <a:gd name="adj" fmla="val 2254"/>
            </a:avLst>
          </a:prstGeom>
          <a:solidFill>
            <a:srgbClr val="12213D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 txBox="1"/>
          <p:nvPr/>
        </p:nvSpPr>
        <p:spPr>
          <a:xfrm>
            <a:off x="6675120" y="1554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B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高效開發組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1847088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Battlefield Thunderstorm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39572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冠軍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269748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B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USD 5,000</a:t>
            </a:r>
            <a:endParaRPr lang="en-US" sz="3000" dirty="0"/>
          </a:p>
        </p:txBody>
      </p:sp>
      <p:sp>
        <p:nvSpPr>
          <p:cNvPr id="17" name="Shape 15"/>
          <p:cNvSpPr/>
          <p:nvPr/>
        </p:nvSpPr>
        <p:spPr>
          <a:xfrm>
            <a:off x="6675120" y="3429000"/>
            <a:ext cx="4892040" cy="0"/>
          </a:xfrm>
          <a:prstGeom prst="line">
            <a:avLst/>
          </a:prstGeom>
          <a:noFill/>
          <a:ln w="12700">
            <a:solidFill>
              <a:srgbClr val="1B3B6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 txBox="1"/>
          <p:nvPr/>
        </p:nvSpPr>
        <p:spPr>
          <a:xfrm>
            <a:off x="6675120" y="35661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7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最佳創新／硬體整合／商業潛力獎 各 USD 1,700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48006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0F2038"/>
          </a:solidFill>
          <a:ln w="12700">
            <a:solidFill>
              <a:srgbClr val="1B3B6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 txBox="1"/>
          <p:nvPr/>
        </p:nvSpPr>
        <p:spPr>
          <a:xfrm>
            <a:off x="868680" y="4937760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3F6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實體決賽加碼：冠軍再加碼 USD 1,000，其他獎項各再加碼 USD 200</a:t>
            </a:r>
            <a:endParaRPr lang="en-US" sz="13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F3F6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每位獲獎者另獲頒 ASUS Certificate of Achievement（官方獲獎證書）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1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報名資格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6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全球開放，個人或組隊皆可參加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822960" y="1856232"/>
            <a:ext cx="548640" cy="548640"/>
          </a:xfrm>
          <a:prstGeom prst="ellipse">
            <a:avLst/>
          </a:prstGeom>
          <a:solidFill>
            <a:srgbClr val="0A112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822960" y="18562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600200" y="17373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1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身份資格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1764792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6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全球年滿 18 歲之大專院校學生、研究生、開發者及各領域專業人士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8892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822960" y="3044952"/>
            <a:ext cx="548640" cy="548640"/>
          </a:xfrm>
          <a:prstGeom prst="ellipse">
            <a:avLst/>
          </a:prstGeom>
          <a:solidFill>
            <a:srgbClr val="0A112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 txBox="1"/>
          <p:nvPr/>
        </p:nvSpPr>
        <p:spPr>
          <a:xfrm>
            <a:off x="822960" y="3044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926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1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組隊人數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2953512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6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個人或 1～5 人自由組隊，歡迎跨背景、跨專業、跨院校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97764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822960" y="4233672"/>
            <a:ext cx="548640" cy="548640"/>
          </a:xfrm>
          <a:prstGeom prst="ellipse">
            <a:avLst/>
          </a:prstGeom>
          <a:solidFill>
            <a:srgbClr val="0A112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822960" y="42336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1148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1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報名限制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4142232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6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每位參賽者限以一件作品參賽，不得以相同或不同隊伍重複報名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48640" y="516636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DCE3ED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822960" y="5422392"/>
            <a:ext cx="548640" cy="548640"/>
          </a:xfrm>
          <a:prstGeom prst="ellipse">
            <a:avLst/>
          </a:prstGeom>
          <a:solidFill>
            <a:srgbClr val="0A112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 txBox="1"/>
          <p:nvPr/>
        </p:nvSpPr>
        <p:spPr>
          <a:xfrm>
            <a:off x="822960" y="5422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F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530352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11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報名方式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0" y="5330952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6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採線上報名，2026/9/4 起至 2026/10/14 止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1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重要時程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6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從報名到決賽，關鍵日期一次掌握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822960" y="3246120"/>
            <a:ext cx="9235440" cy="0"/>
          </a:xfrm>
          <a:prstGeom prst="line">
            <a:avLst/>
          </a:prstGeom>
          <a:noFill/>
          <a:ln w="25400">
            <a:solidFill>
              <a:srgbClr val="1B3B6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685800" y="3108960"/>
            <a:ext cx="274320" cy="274320"/>
          </a:xfrm>
          <a:prstGeom prst="ellipse">
            <a:avLst/>
          </a:prstGeom>
          <a:solidFill>
            <a:srgbClr val="0EA5C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182880" y="2468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1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9/4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91440" y="35204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線上徵件開跑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532888" y="3108960"/>
            <a:ext cx="274320" cy="274320"/>
          </a:xfrm>
          <a:prstGeom prst="ellipse">
            <a:avLst/>
          </a:prstGeom>
          <a:solidFill>
            <a:srgbClr val="0EA5C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 txBox="1"/>
          <p:nvPr/>
        </p:nvSpPr>
        <p:spPr>
          <a:xfrm>
            <a:off x="2029968" y="2468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1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9/30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938528" y="35204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ASUS／Intel／Hailo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技術線上說明會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379976" y="3108960"/>
            <a:ext cx="274320" cy="274320"/>
          </a:xfrm>
          <a:prstGeom prst="ellipse">
            <a:avLst/>
          </a:prstGeom>
          <a:solidFill>
            <a:srgbClr val="0EA5C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3877056" y="2468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1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10/14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785616" y="35204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I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提案截止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227064" y="3108960"/>
            <a:ext cx="274320" cy="274320"/>
          </a:xfrm>
          <a:prstGeom prst="ellipse">
            <a:avLst/>
          </a:prstGeom>
          <a:solidFill>
            <a:srgbClr val="0EA5C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 txBox="1"/>
          <p:nvPr/>
        </p:nvSpPr>
        <p:spPr>
          <a:xfrm>
            <a:off x="5724144" y="2468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1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10/26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632704" y="35204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公布入圍名單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74152" y="3108960"/>
            <a:ext cx="274320" cy="274320"/>
          </a:xfrm>
          <a:prstGeom prst="ellipse">
            <a:avLst/>
          </a:prstGeom>
          <a:solidFill>
            <a:srgbClr val="0EA5C9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 txBox="1"/>
          <p:nvPr/>
        </p:nvSpPr>
        <p:spPr>
          <a:xfrm>
            <a:off x="7571232" y="2468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1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11/6–12/4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7479792" y="35204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II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實機開發與驗證期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921240" y="3108960"/>
            <a:ext cx="274320" cy="274320"/>
          </a:xfrm>
          <a:prstGeom prst="ellipse">
            <a:avLst/>
          </a:prstGeom>
          <a:solidFill>
            <a:srgbClr val="FFB020"/>
          </a:solidFill>
          <a:ln w="254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 txBox="1"/>
          <p:nvPr/>
        </p:nvSpPr>
        <p:spPr>
          <a:xfrm>
            <a:off x="9418320" y="24688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A11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12/19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9326880" y="3520440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決賽暨頒獎典禮</a:t>
            </a:r>
            <a:endParaRPr lang="en-US" sz="10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050" dirty="0">
                <a:solidFill>
                  <a:srgbClr val="6B76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 總部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A112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 txBox="1"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3F6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正確時間與最新公告，請以競賽官方網站為準。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A112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參賽流程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6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兩階段賽制：先提案，再實機開發驗證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0A112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 txBox="1"/>
          <p:nvPr/>
        </p:nvSpPr>
        <p:spPr>
          <a:xfrm>
            <a:off x="86868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I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提案簡報階段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2752344"/>
            <a:ext cx="91440" cy="91440"/>
          </a:xfrm>
          <a:prstGeom prst="ellipse">
            <a:avLst/>
          </a:prstGeom>
          <a:solidFill>
            <a:srgbClr val="2FD8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 txBox="1"/>
          <p:nvPr/>
        </p:nvSpPr>
        <p:spPr>
          <a:xfrm>
            <a:off x="1097280" y="262432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3F6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英文提案簡報，正文上限 20 頁（附錄不計）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68680" y="3529584"/>
            <a:ext cx="91440" cy="91440"/>
          </a:xfrm>
          <a:prstGeom prst="ellipse">
            <a:avLst/>
          </a:prstGeom>
          <a:solidFill>
            <a:srgbClr val="2FD8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 txBox="1"/>
          <p:nvPr/>
        </p:nvSpPr>
        <p:spPr>
          <a:xfrm>
            <a:off x="1097280" y="340156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3F6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須涵蓋：情境背景與問題定義、解決方案、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3F6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軟硬體架構設計、預期效益、GitHub 連結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68680" y="4306824"/>
            <a:ext cx="91440" cy="91440"/>
          </a:xfrm>
          <a:prstGeom prst="ellipse">
            <a:avLst/>
          </a:prstGeom>
          <a:solidFill>
            <a:srgbClr val="2FD8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 txBox="1"/>
          <p:nvPr/>
        </p:nvSpPr>
        <p:spPr>
          <a:xfrm>
            <a:off x="1097280" y="417880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3F6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分鐘以內實機展演影片，上傳 YouTube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5084064"/>
            <a:ext cx="91440" cy="91440"/>
          </a:xfrm>
          <a:prstGeom prst="ellipse">
            <a:avLst/>
          </a:prstGeom>
          <a:solidFill>
            <a:srgbClr val="2FD8F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 txBox="1"/>
          <p:nvPr/>
        </p:nvSpPr>
        <p:spPr>
          <a:xfrm>
            <a:off x="1097280" y="495604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3F6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評選：創新創意 30％、商業潛力 35％、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3F6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實用價值 25％、敘事表達 10％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0" y="1554480"/>
            <a:ext cx="5394960" cy="4480560"/>
          </a:xfrm>
          <a:prstGeom prst="roundRect">
            <a:avLst>
              <a:gd name="adj" fmla="val 1633"/>
            </a:avLst>
          </a:prstGeom>
          <a:solidFill>
            <a:srgbClr val="16294B"/>
          </a:solidFill>
          <a:ln w="12700">
            <a:solidFill>
              <a:srgbClr val="1B3B6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 txBox="1"/>
          <p:nvPr/>
        </p:nvSpPr>
        <p:spPr>
          <a:xfrm>
            <a:off x="653796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B0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Stage II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37960" y="2148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7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實機開發與決賽階段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537960" y="2752344"/>
            <a:ext cx="91440" cy="91440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 txBox="1"/>
          <p:nvPr/>
        </p:nvSpPr>
        <p:spPr>
          <a:xfrm>
            <a:off x="6766560" y="2624328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3F6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各賽道前 5 隊入圍，共 20 支隊伍晉級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37960" y="3410712"/>
            <a:ext cx="91440" cy="91440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 txBox="1"/>
          <p:nvPr/>
        </p:nvSpPr>
        <p:spPr>
          <a:xfrm>
            <a:off x="6766560" y="3282696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3F6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寄送 UGen300 硬體，開放 SDV 模擬或</a:t>
            </a:r>
            <a:endParaRPr lang="en-US" sz="12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3F6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 總部測試環境預約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37960" y="4069080"/>
            <a:ext cx="91440" cy="91440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 txBox="1"/>
          <p:nvPr/>
        </p:nvSpPr>
        <p:spPr>
          <a:xfrm>
            <a:off x="6766560" y="3941064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3F6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國際線上組：全程遠端評選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4727448"/>
            <a:ext cx="91440" cy="91440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 txBox="1"/>
          <p:nvPr/>
        </p:nvSpPr>
        <p:spPr>
          <a:xfrm>
            <a:off x="6766560" y="4599432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3F6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實體競賽組：決賽當日親赴 ASUS 總部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37960" y="5385816"/>
            <a:ext cx="91440" cy="91440"/>
          </a:xfrm>
          <a:prstGeom prst="ellipse">
            <a:avLst/>
          </a:prstGeom>
          <a:solidFill>
            <a:srgbClr val="FFB020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 txBox="1"/>
          <p:nvPr/>
        </p:nvSpPr>
        <p:spPr>
          <a:xfrm>
            <a:off x="6766560" y="52578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3F6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12/19 決賽暨頒獎典禮（臺北市北投區立德路115號）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00400"/>
            <a:ext cx="5486400" cy="5486400"/>
          </a:xfrm>
          <a:prstGeom prst="ellipse">
            <a:avLst/>
          </a:prstGeom>
          <a:solidFill>
            <a:srgbClr val="1B3B6F">
              <a:alpha val="35000"/>
            </a:srgbClr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" name="Text 1"/>
          <p:cNvSpPr txBox="1"/>
          <p:nvPr/>
        </p:nvSpPr>
        <p:spPr>
          <a:xfrm>
            <a:off x="777240" y="10972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邀請您把握這個舞台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04672" y="1828800"/>
            <a:ext cx="7772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誠摯邀請有意投入 AI 應用開發、嵌入式系統、機器學習等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相關領域的同學把握機會，也歡迎協助於課堂、系網或</a:t>
            </a:r>
            <a:endParaRPr lang="en-US" sz="15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7D2E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學生社群轉知本次活動資訊，讓更多同學看見這個舞台。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77240" y="3383280"/>
            <a:ext cx="10698480" cy="1554480"/>
          </a:xfrm>
          <a:prstGeom prst="roundRect">
            <a:avLst>
              <a:gd name="adj" fmla="val 4706"/>
            </a:avLst>
          </a:prstGeom>
          <a:solidFill>
            <a:srgbClr val="12213D"/>
          </a:solidFill>
          <a:ln w="12700">
            <a:solidFill>
              <a:srgbClr val="2FD8FF"/>
            </a:solidFill>
            <a:prstDash val="solid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 txBox="1"/>
          <p:nvPr/>
        </p:nvSpPr>
        <p:spPr>
          <a:xfrm>
            <a:off x="1051560" y="3566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FD8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把痛點交給你，把晶片交給我們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3F6F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從提案到實機驗證，只差一個夠具體的點子。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051560" y="443484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B2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報名 / 活動官網：請洽競賽官方網站最新公告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5257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2C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聯絡窗口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5559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asus_aihackathon@bhuntr.com　｜　02-7730-7613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04672" y="6355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6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主辦：華碩電腦股份有限公司 ASUSTeK Computer Inc.　協辦：Intel Corporation、Hailo Technologies Ltd.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a4428014-3c0d-4a81-9954-95ff6747ae72}" enabled="1" method="Standard" siteId="{301f59c4-c269-4a66-8a8c-f5daab211fa3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434</Words>
  <Application>Microsoft Office PowerPoint</Application>
  <PresentationFormat>寬螢幕</PresentationFormat>
  <Paragraphs>135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2" baseType="lpstr">
      <vt:lpstr>Microsoft JhengHei</vt:lpstr>
      <vt:lpstr>Aptos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SabrinaYC Chen(陳怡君)</cp:lastModifiedBy>
  <cp:revision>2</cp:revision>
  <dcterms:created xsi:type="dcterms:W3CDTF">2026-09-03T11:40:52Z</dcterms:created>
  <dcterms:modified xsi:type="dcterms:W3CDTF">2026-09-03T12:03:31Z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Theme:5</vt:lpwstr>
  </property>
  <property fmtid="{D5CDD505-2E9C-101B-9397-08002B2CF9AE}" pid="3" name="ClassificationContentMarkingFooterText">
    <vt:lpwstr>ASUS_Confidential</vt:lpwstr>
  </property>
  <property fmtid="{D5CDD505-2E9C-101B-9397-08002B2CF9AE}" pid="4" name="ClassificationContentMarkingHeaderLocations">
    <vt:lpwstr>Office Theme:4</vt:lpwstr>
  </property>
  <property fmtid="{D5CDD505-2E9C-101B-9397-08002B2CF9AE}" pid="5" name="ClassificationContentMarkingHeaderText">
    <vt:lpwstr>ASUS_Confidential</vt:lpwstr>
  </property>
</Properties>
</file>